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 Light" charset="1" panose="00000400000000000000"/>
      <p:regular r:id="rId16"/>
    </p:embeddedFont>
    <p:embeddedFont>
      <p:font typeface="Poppins" charset="1" panose="00000500000000000000"/>
      <p:regular r:id="rId17"/>
    </p:embeddedFont>
    <p:embeddedFont>
      <p:font typeface="Proxima Nova Bold" charset="1" panose="0200050603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85281" y="3964060"/>
            <a:ext cx="13717437" cy="178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1"/>
              </a:lnSpc>
            </a:pPr>
            <a:r>
              <a:rPr lang="en-US" b="true" sz="500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HUMAN–AUTONOMY SHARED CONTROL FOR UAV OBSTACLE AVOIDANCE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55132" y="5913479"/>
            <a:ext cx="9977737" cy="47625"/>
            <a:chOff x="0" y="0"/>
            <a:chExt cx="2627881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27881" cy="12543"/>
            </a:xfrm>
            <a:custGeom>
              <a:avLst/>
              <a:gdLst/>
              <a:ahLst/>
              <a:cxnLst/>
              <a:rect r="r" b="b" t="t" l="l"/>
              <a:pathLst>
                <a:path h="12543" w="2627881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69019" y="6018341"/>
            <a:ext cx="654996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9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CD6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3304" y="6974651"/>
            <a:ext cx="9591354" cy="1719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2"/>
              </a:lnSpc>
            </a:pPr>
            <a:r>
              <a:rPr lang="en-US" sz="24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Iniya M - CB.SC.U4AIE24219</a:t>
            </a:r>
          </a:p>
          <a:p>
            <a:pPr algn="ctr">
              <a:lnSpc>
                <a:spcPts val="3382"/>
              </a:lnSpc>
            </a:pPr>
            <a:r>
              <a:rPr lang="en-US" sz="24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P. POORNIMA - CB.SC.U4AIE24343</a:t>
            </a:r>
          </a:p>
          <a:p>
            <a:pPr algn="ctr">
              <a:lnSpc>
                <a:spcPts val="3382"/>
              </a:lnSpc>
            </a:pPr>
            <a:r>
              <a:rPr lang="en-US" sz="24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SOWMYA A - CB.SC.U4AIE24357</a:t>
            </a:r>
          </a:p>
          <a:p>
            <a:pPr algn="ctr">
              <a:lnSpc>
                <a:spcPts val="3382"/>
              </a:lnSpc>
            </a:pPr>
            <a:r>
              <a:rPr lang="en-US" sz="24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Y. LIKITHA REDDY - CB.SC.U4AIE24361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747671" y="1827414"/>
            <a:ext cx="4792658" cy="1784223"/>
          </a:xfrm>
          <a:custGeom>
            <a:avLst/>
            <a:gdLst/>
            <a:ahLst/>
            <a:cxnLst/>
            <a:rect r="r" b="b" t="t" l="l"/>
            <a:pathLst>
              <a:path h="1784223" w="4792658">
                <a:moveTo>
                  <a:pt x="0" y="0"/>
                </a:moveTo>
                <a:lnTo>
                  <a:pt x="4792658" y="0"/>
                </a:lnTo>
                <a:lnTo>
                  <a:pt x="4792658" y="1784223"/>
                </a:lnTo>
                <a:lnTo>
                  <a:pt x="0" y="1784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32569">
            <a:off x="16780920" y="8849597"/>
            <a:ext cx="438102" cy="510163"/>
          </a:xfrm>
          <a:custGeom>
            <a:avLst/>
            <a:gdLst/>
            <a:ahLst/>
            <a:cxnLst/>
            <a:rect r="r" b="b" t="t" l="l"/>
            <a:pathLst>
              <a:path h="510163" w="438102">
                <a:moveTo>
                  <a:pt x="0" y="0"/>
                </a:moveTo>
                <a:lnTo>
                  <a:pt x="438102" y="0"/>
                </a:lnTo>
                <a:lnTo>
                  <a:pt x="438102" y="510162"/>
                </a:lnTo>
                <a:lnTo>
                  <a:pt x="0" y="51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76690" y="-2654273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94094"/>
            <a:ext cx="6172720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2736" y="1975669"/>
            <a:ext cx="16046564" cy="811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Unmanned Aerial Vehicles (UAVs) are increasingly used in environments where safe and reliable navigation is ess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ential.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Fully autonomous UAV operation can be challenging in dynamic or uncertain environments.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Huma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operators provide flexibility and decision-making capability during flight.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ever, continuous manual control can lead to delayed reactions when obstacles appear suddenly.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Shared control combines human control with autonomous safety assistance.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 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 proposed system, the UAV remains under human control during normal flight.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When a critical obstacle is detected, the autonomous controller temporarily takes over to perform safe avoidance.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After the obstacle is cleared and the UAV stabilizes, control is returned to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 human operator.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is implemented and evaluated using the GymPyBullet simulation environment.</a:t>
            </a:r>
          </a:p>
          <a:p>
            <a:pPr algn="just">
              <a:lnSpc>
                <a:spcPts val="474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0685" y="18415"/>
            <a:ext cx="7378487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6366" y="1039856"/>
            <a:ext cx="16193606" cy="875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1) Manual UAV operation provides human flexibility but depends heavily on the operator's reaction time.</a:t>
            </a:r>
          </a:p>
          <a:p>
            <a:pPr algn="l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2)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When the pilot commands the UAV toward an obstacle, continuing the same command may result in collision.</a:t>
            </a:r>
          </a:p>
          <a:p>
            <a:pPr algn="l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3)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completely autonomous co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ntroller, on the other hand, removes the human operator from normal decision-making.</a:t>
            </a:r>
          </a:p>
          <a:p>
            <a:pPr algn="l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4)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Therefore, there is a need forring safe flight,</a:t>
            </a:r>
          </a:p>
          <a:p>
            <a:pPr algn="l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uously monitors obstacle risk,</a:t>
            </a:r>
          </a:p>
          <a:p>
            <a:pPr algn="l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detects critical situations,</a:t>
            </a:r>
          </a:p>
          <a:p>
            <a:pPr algn="l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temporarily overrides unsafe forward motion,</a:t>
            </a:r>
          </a:p>
          <a:p>
            <a:pPr algn="l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performs obstacle avoidance,</a:t>
            </a:r>
          </a:p>
          <a:p>
            <a:pPr algn="l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automatically returns control to the human.</a:t>
            </a:r>
          </a:p>
          <a:p>
            <a:pPr algn="l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5) The challenge is to achieve this intervention without causing abrupt or unsafe autonomous movements.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394394" y="-2679410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8" y="0"/>
                </a:lnTo>
                <a:lnTo>
                  <a:pt x="41298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32569">
            <a:off x="16780920" y="8779207"/>
            <a:ext cx="438102" cy="510163"/>
          </a:xfrm>
          <a:custGeom>
            <a:avLst/>
            <a:gdLst/>
            <a:ahLst/>
            <a:cxnLst/>
            <a:rect r="r" b="b" t="t" l="l"/>
            <a:pathLst>
              <a:path h="510163" w="438102">
                <a:moveTo>
                  <a:pt x="0" y="0"/>
                </a:moveTo>
                <a:lnTo>
                  <a:pt x="438102" y="0"/>
                </a:lnTo>
                <a:lnTo>
                  <a:pt x="438102" y="510162"/>
                </a:lnTo>
                <a:lnTo>
                  <a:pt x="0" y="510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47725"/>
            <a:ext cx="5246391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9373" y="2288792"/>
            <a:ext cx="14795067" cy="685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 a UAV environment for human-controlled flight.</a:t>
            </a:r>
          </a:p>
          <a:p>
            <a:pPr algn="l" marL="539748" indent="-269874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Continuously monitor the UAV's surrounding environment.</a:t>
            </a:r>
          </a:p>
          <a:p>
            <a:pPr algn="l" marL="539748" indent="-269874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obstacles that threaten the UAV's intended flight path.</a:t>
            </a:r>
          </a:p>
          <a:p>
            <a:pPr algn="l" marL="539748" indent="-269874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Determine when human control may result in collision.</a:t>
            </a:r>
          </a:p>
          <a:p>
            <a:pPr algn="l" marL="539748" indent="-269874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Automatically activate autonomous safety assistance during critical situations.</a:t>
            </a:r>
          </a:p>
          <a:p>
            <a:pPr algn="l" marL="539748" indent="-269874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Select a safe direction for obstacle avoidance.</a:t>
            </a:r>
          </a:p>
          <a:p>
            <a:pPr algn="l" marL="539748" indent="-269874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Execute a local collision-free avoidance maneuver.</a:t>
            </a:r>
          </a:p>
          <a:p>
            <a:pPr algn="l" marL="539748" indent="-269874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stable UAV motion during autonomous intervention.</a:t>
            </a:r>
          </a:p>
          <a:p>
            <a:pPr algn="l" marL="539748" indent="-269874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Return control to the human operator after the obstacle is cleared.</a:t>
            </a:r>
          </a:p>
          <a:p>
            <a:pPr algn="l" marL="539748" indent="-269874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Evaluate the effectiveness and safety of the proposed shared-control mechanism.</a:t>
            </a:r>
          </a:p>
          <a:p>
            <a:pPr algn="l">
              <a:lnSpc>
                <a:spcPts val="474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935063" y="-1272471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90009" y="9034288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2100" y="2214563"/>
            <a:ext cx="14763799" cy="6704534"/>
          </a:xfrm>
          <a:custGeom>
            <a:avLst/>
            <a:gdLst/>
            <a:ahLst/>
            <a:cxnLst/>
            <a:rect r="r" b="b" t="t" l="l"/>
            <a:pathLst>
              <a:path h="6704534" w="14763799">
                <a:moveTo>
                  <a:pt x="0" y="0"/>
                </a:moveTo>
                <a:lnTo>
                  <a:pt x="14763800" y="0"/>
                </a:lnTo>
                <a:lnTo>
                  <a:pt x="14763800" y="6704534"/>
                </a:lnTo>
                <a:lnTo>
                  <a:pt x="0" y="6704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12796"/>
            <a:ext cx="9026300" cy="115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LITERATURE REVIEW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5986" y="164678"/>
            <a:ext cx="7792897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7554" y="1574883"/>
            <a:ext cx="15352892" cy="854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1) UAV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Initialization and Manual Flight</a:t>
            </a:r>
          </a:p>
          <a:p>
            <a:pPr algn="l" marL="518160" indent="-259080" lvl="1">
              <a:lnSpc>
                <a:spcPts val="45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Crazyflie 2.x (CF2X) UAV is initialized in the GymPyBullet environment.</a:t>
            </a:r>
          </a:p>
          <a:p>
            <a:pPr algn="l" marL="518160" indent="-259080" lvl="1">
              <a:lnSpc>
                <a:spcPts val="45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UAV is controlled using a PID-based position controller.</a:t>
            </a:r>
          </a:p>
          <a:p>
            <a:pPr algn="l" marL="518160" indent="-259080" lvl="1">
              <a:lnSpc>
                <a:spcPts val="45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human operator provides the flight commands.</a:t>
            </a:r>
          </a:p>
          <a:p>
            <a:pPr algn="l" marL="518160" indent="-259080" lvl="1">
              <a:lnSpc>
                <a:spcPts val="45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During normal operation, the UAV remains in MANUAL mode.</a:t>
            </a:r>
          </a:p>
          <a:p>
            <a:pPr algn="l">
              <a:lnSpc>
                <a:spcPts val="4559"/>
              </a:lnSpc>
            </a:pPr>
          </a:p>
          <a:p>
            <a:pPr algn="l">
              <a:lnSpc>
                <a:spcPts val="45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2) Obstacle Monitoring and Risk Assessment</a:t>
            </a:r>
          </a:p>
          <a:p>
            <a:pPr algn="l" marL="518160" indent="-259080" lvl="1">
              <a:lnSpc>
                <a:spcPts val="45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simulated environment is continuously examined for obstacles.</a:t>
            </a:r>
          </a:p>
          <a:p>
            <a:pPr algn="l" marL="518160" indent="-259080" lvl="1">
              <a:lnSpc>
                <a:spcPts val="45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evaluates whether an obstacle lies within the UAV's forward flight corridor.</a:t>
            </a:r>
          </a:p>
          <a:p>
            <a:pPr algn="l" marL="518160" indent="-259080" lvl="1">
              <a:lnSpc>
                <a:spcPts val="45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UAV safety margin is considered when determining collision risk.</a:t>
            </a:r>
          </a:p>
          <a:p>
            <a:pPr algn="l" marL="518160" indent="-259080" lvl="1">
              <a:lnSpc>
                <a:spcPts val="45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distinguishes between a safe situation and a potentially dangerous obstacle encounter.</a:t>
            </a:r>
          </a:p>
          <a:p>
            <a:pPr algn="l">
              <a:lnSpc>
                <a:spcPts val="4559"/>
              </a:lnSpc>
            </a:pPr>
          </a:p>
          <a:p>
            <a:pPr algn="l">
              <a:lnSpc>
                <a:spcPts val="4559"/>
              </a:lnSpc>
            </a:pPr>
          </a:p>
          <a:p>
            <a:pPr algn="l">
              <a:lnSpc>
                <a:spcPts val="455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7259300" y="0"/>
            <a:ext cx="1248135" cy="2116414"/>
            <a:chOff x="0" y="0"/>
            <a:chExt cx="328727" cy="5574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8727" cy="557409"/>
            </a:xfrm>
            <a:custGeom>
              <a:avLst/>
              <a:gdLst/>
              <a:ahLst/>
              <a:cxnLst/>
              <a:rect r="r" b="b" t="t" l="l"/>
              <a:pathLst>
                <a:path h="557409" w="328727">
                  <a:moveTo>
                    <a:pt x="0" y="0"/>
                  </a:moveTo>
                  <a:lnTo>
                    <a:pt x="328727" y="0"/>
                  </a:lnTo>
                  <a:lnTo>
                    <a:pt x="328727" y="557409"/>
                  </a:lnTo>
                  <a:lnTo>
                    <a:pt x="0" y="557409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8727" cy="595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5986" y="164678"/>
            <a:ext cx="7792897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40281" y="1621155"/>
            <a:ext cx="15807438" cy="866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3) Event-Triggered Autonomou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Takeover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no critical obstacle is present:</a:t>
            </a:r>
          </a:p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Hum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control continues.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critical obstacle is detected whi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the UAV is moving toward it:</a:t>
            </a:r>
          </a:p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Autonomous safety contr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 is activated.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4)  Local Obstacle-Avoidance Planning</a:t>
            </a:r>
          </a:p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After takeover: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Forward motion is reduced/stopped.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Available clearance on the left and right sides of the obstacle is evaluated.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safer direction is selected.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local avoidance path is generated.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Candidate path segments are checked for collision safety.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7259300" y="0"/>
            <a:ext cx="1248135" cy="2116414"/>
            <a:chOff x="0" y="0"/>
            <a:chExt cx="328727" cy="5574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8727" cy="557409"/>
            </a:xfrm>
            <a:custGeom>
              <a:avLst/>
              <a:gdLst/>
              <a:ahLst/>
              <a:cxnLst/>
              <a:rect r="r" b="b" t="t" l="l"/>
              <a:pathLst>
                <a:path h="557409" w="328727">
                  <a:moveTo>
                    <a:pt x="0" y="0"/>
                  </a:moveTo>
                  <a:lnTo>
                    <a:pt x="328727" y="0"/>
                  </a:lnTo>
                  <a:lnTo>
                    <a:pt x="328727" y="557409"/>
                  </a:lnTo>
                  <a:lnTo>
                    <a:pt x="0" y="557409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8727" cy="595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5986" y="164678"/>
            <a:ext cx="7792897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40281" y="1429767"/>
            <a:ext cx="15807438" cy="812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5) Autonomou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Av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oidance Exe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cution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UAV follows the selected loca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 avoidance path using the PID controller.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Autonomous target movement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are constrained to avoid abrupt changes.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obstacle is continuously monitored during the maneuver.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the planned path is unsafe, the system can reject/replan.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6) Stabilization and Control Handoff</a:t>
            </a:r>
          </a:p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After the obstacle has been cleared: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UAV moves to a safe region.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UAV motion is stabilized.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system verifies that the obstacle no longer represents an immediate threat.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Autonomous intervention is terminated.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Control authority is returned to the human operator.</a:t>
            </a:r>
          </a:p>
          <a:p>
            <a:pPr algn="l">
              <a:lnSpc>
                <a:spcPts val="4320"/>
              </a:lnSpc>
            </a:pP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7259300" y="0"/>
            <a:ext cx="1248135" cy="2116414"/>
            <a:chOff x="0" y="0"/>
            <a:chExt cx="328727" cy="5574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8727" cy="557409"/>
            </a:xfrm>
            <a:custGeom>
              <a:avLst/>
              <a:gdLst/>
              <a:ahLst/>
              <a:cxnLst/>
              <a:rect r="r" b="b" t="t" l="l"/>
              <a:pathLst>
                <a:path h="557409" w="328727">
                  <a:moveTo>
                    <a:pt x="0" y="0"/>
                  </a:moveTo>
                  <a:lnTo>
                    <a:pt x="328727" y="0"/>
                  </a:lnTo>
                  <a:lnTo>
                    <a:pt x="328727" y="557409"/>
                  </a:lnTo>
                  <a:lnTo>
                    <a:pt x="0" y="557409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8727" cy="595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13131" y="3908425"/>
            <a:ext cx="102617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b="true" sz="12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19435" y="-239354"/>
            <a:ext cx="1248135" cy="2116414"/>
            <a:chOff x="0" y="0"/>
            <a:chExt cx="328727" cy="557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8727" cy="557409"/>
            </a:xfrm>
            <a:custGeom>
              <a:avLst/>
              <a:gdLst/>
              <a:ahLst/>
              <a:cxnLst/>
              <a:rect r="r" b="b" t="t" l="l"/>
              <a:pathLst>
                <a:path h="557409" w="328727">
                  <a:moveTo>
                    <a:pt x="0" y="0"/>
                  </a:moveTo>
                  <a:lnTo>
                    <a:pt x="328727" y="0"/>
                  </a:lnTo>
                  <a:lnTo>
                    <a:pt x="328727" y="557409"/>
                  </a:lnTo>
                  <a:lnTo>
                    <a:pt x="0" y="557409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8727" cy="595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008194" y="7478905"/>
            <a:ext cx="4129818" cy="4114800"/>
          </a:xfrm>
          <a:custGeom>
            <a:avLst/>
            <a:gdLst/>
            <a:ahLst/>
            <a:cxnLst/>
            <a:rect r="r" b="b" t="t" l="l"/>
            <a:pathLst>
              <a:path h="4114800" w="4129818">
                <a:moveTo>
                  <a:pt x="0" y="0"/>
                </a:moveTo>
                <a:lnTo>
                  <a:pt x="4129817" y="0"/>
                </a:lnTo>
                <a:lnTo>
                  <a:pt x="4129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DAHSqaJNW2M</dc:identifier>
  <dcterms:modified xsi:type="dcterms:W3CDTF">2011-08-01T06:04:30Z</dcterms:modified>
  <cp:revision>1</cp:revision>
  <dc:title>CD6</dc:title>
</cp:coreProperties>
</file>